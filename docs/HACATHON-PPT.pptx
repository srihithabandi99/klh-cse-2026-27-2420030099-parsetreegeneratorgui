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75" r:id="rId4"/>
    <p:sldId id="276" r:id="rId5"/>
    <p:sldId id="264" r:id="rId6"/>
    <p:sldId id="273" r:id="rId7"/>
    <p:sldId id="274" r:id="rId8"/>
    <p:sldId id="289" r:id="rId9"/>
    <p:sldId id="266" r:id="rId10"/>
    <p:sldId id="286" r:id="rId11"/>
    <p:sldId id="287" r:id="rId12"/>
    <p:sldId id="288" r:id="rId13"/>
    <p:sldId id="285" r:id="rId14"/>
    <p:sldId id="290" r:id="rId15"/>
    <p:sldId id="291" r:id="rId16"/>
    <p:sldId id="292" r:id="rId17"/>
    <p:sldId id="278" r:id="rId18"/>
    <p:sldId id="268"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24BD777-37A9-43A8-B010-53FE3852698E}">
          <p14:sldIdLst>
            <p14:sldId id="256"/>
            <p14:sldId id="257"/>
            <p14:sldId id="275"/>
            <p14:sldId id="276"/>
            <p14:sldId id="264"/>
          </p14:sldIdLst>
        </p14:section>
        <p14:section name="Untitled Section" id="{7307711C-9608-4191-9EEF-59EA12CA526A}">
          <p14:sldIdLst>
            <p14:sldId id="273"/>
            <p14:sldId id="274"/>
            <p14:sldId id="289"/>
            <p14:sldId id="266"/>
            <p14:sldId id="286"/>
            <p14:sldId id="287"/>
            <p14:sldId id="288"/>
            <p14:sldId id="285"/>
            <p14:sldId id="290"/>
            <p14:sldId id="291"/>
            <p14:sldId id="292"/>
            <p14:sldId id="278"/>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10/30/2026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10/30/2026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10/30/2026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10/30/2026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10/30/2026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10/30/2026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10/30/2026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10/30/2026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10/30/2026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10/30/2026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10/30/2026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44552"/>
            <a:ext cx="9144000" cy="2316702"/>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IN" sz="4000" dirty="0">
                <a:solidFill>
                  <a:srgbClr val="FF0000"/>
                </a:solidFill>
              </a:rPr>
              <a:t>COMPLIER DESIGN</a:t>
            </a:r>
            <a:br>
              <a:rPr lang="en-IN" sz="4000" dirty="0">
                <a:solidFill>
                  <a:srgbClr val="FF0000"/>
                </a:solidFill>
                <a:latin typeface="Times New Roman" panose="02020603050405020304" pitchFamily="18" charset="0"/>
                <a:cs typeface="Times New Roman" panose="02020603050405020304" pitchFamily="18" charset="0"/>
              </a:rPr>
            </a:br>
            <a:br>
              <a:rPr lang="en-US" sz="4000" b="1" dirty="0">
                <a:solidFill>
                  <a:srgbClr val="C00000"/>
                </a:solidFill>
                <a:latin typeface="+mn-lt"/>
              </a:rPr>
            </a:br>
            <a:r>
              <a:rPr lang="en-IN" sz="3200" b="1" dirty="0">
                <a:solidFill>
                  <a:srgbClr val="002060"/>
                </a:solidFill>
              </a:rPr>
              <a:t>Parse Tree Generator GUI</a:t>
            </a:r>
            <a:br>
              <a:rPr lang="en-IN" sz="3200" b="1" dirty="0">
                <a:solidFill>
                  <a:srgbClr val="002060"/>
                </a:solidFill>
                <a:latin typeface="Times New Roman" panose="02020603050405020304" pitchFamily="18" charset="0"/>
                <a:cs typeface="Times New Roman" panose="02020603050405020304" pitchFamily="18" charset="0"/>
              </a:rPr>
            </a:br>
            <a:endParaRPr lang="en-US" sz="3000" b="1" dirty="0">
              <a:solidFill>
                <a:srgbClr val="002060"/>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2433734" y="2561254"/>
            <a:ext cx="7324531" cy="1396014"/>
          </a:xfrm>
        </p:spPr>
        <p:txBody>
          <a:bodyPr/>
          <a:lstStyle/>
          <a:p>
            <a:r>
              <a:rPr lang="en-US" dirty="0">
                <a:solidFill>
                  <a:srgbClr val="0070C0"/>
                </a:solidFill>
              </a:rPr>
              <a:t>Team Members</a:t>
            </a:r>
          </a:p>
          <a:p>
            <a:pPr>
              <a:lnSpc>
                <a:spcPct val="100000"/>
              </a:lnSpc>
            </a:pPr>
            <a:r>
              <a:rPr lang="en-US" dirty="0">
                <a:solidFill>
                  <a:srgbClr val="0070C0"/>
                </a:solidFill>
              </a:rPr>
              <a:t>Name: BANDI SRIHITHA  </a:t>
            </a:r>
            <a:r>
              <a:rPr lang="en-US" dirty="0" err="1">
                <a:solidFill>
                  <a:srgbClr val="0070C0"/>
                </a:solidFill>
              </a:rPr>
              <a:t>Rollno</a:t>
            </a:r>
            <a:r>
              <a:rPr lang="en-US" dirty="0">
                <a:solidFill>
                  <a:srgbClr val="0070C0"/>
                </a:solidFill>
              </a:rPr>
              <a:t>: 2420030099</a:t>
            </a:r>
            <a:br>
              <a:rPr lang="en-US" dirty="0">
                <a:solidFill>
                  <a:srgbClr val="0070C0"/>
                </a:solidFill>
              </a:rPr>
            </a:br>
            <a:r>
              <a:rPr lang="en-US" dirty="0">
                <a:solidFill>
                  <a:srgbClr val="0070C0"/>
                </a:solidFill>
              </a:rPr>
              <a:t>Name: VANJARI SAI DHANUSH </a:t>
            </a:r>
            <a:r>
              <a:rPr lang="en-US" dirty="0" err="1">
                <a:solidFill>
                  <a:srgbClr val="0070C0"/>
                </a:solidFill>
              </a:rPr>
              <a:t>Rollno</a:t>
            </a:r>
            <a:r>
              <a:rPr lang="en-US" dirty="0">
                <a:solidFill>
                  <a:srgbClr val="0070C0"/>
                </a:solidFill>
              </a:rPr>
              <a:t>: 2420030162</a:t>
            </a:r>
          </a:p>
          <a:p>
            <a:pPr>
              <a:lnSpc>
                <a:spcPct val="100000"/>
              </a:lnSpc>
            </a:pPr>
            <a:r>
              <a:rPr lang="en-US" dirty="0">
                <a:solidFill>
                  <a:srgbClr val="0070C0"/>
                </a:solidFill>
              </a:rPr>
              <a:t>Name: R.L.S GIRIDHAR </a:t>
            </a:r>
            <a:r>
              <a:rPr lang="en-US" dirty="0" err="1">
                <a:solidFill>
                  <a:srgbClr val="0070C0"/>
                </a:solidFill>
              </a:rPr>
              <a:t>Rollno</a:t>
            </a:r>
            <a:r>
              <a:rPr lang="en-US" dirty="0">
                <a:solidFill>
                  <a:srgbClr val="0070C0"/>
                </a:solidFill>
              </a:rPr>
              <a:t>: 2420030171</a:t>
            </a:r>
          </a:p>
          <a:p>
            <a:pPr>
              <a:lnSpc>
                <a:spcPct val="100000"/>
              </a:lnSpc>
            </a:pPr>
            <a:r>
              <a:rPr lang="en-US" dirty="0">
                <a:solidFill>
                  <a:srgbClr val="0070C0"/>
                </a:solidFill>
              </a:rPr>
              <a:t>Name: D.CHAITHANYA Rollno:2420090077</a:t>
            </a:r>
            <a:br>
              <a:rPr lang="en-US" dirty="0">
                <a:solidFill>
                  <a:srgbClr val="0070C0"/>
                </a:solidFill>
              </a:rPr>
            </a:b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r>
              <a:rPr lang="en-IN" b="1" dirty="0">
                <a:solidFill>
                  <a:srgbClr val="C00000"/>
                </a:solidFill>
              </a:rPr>
              <a:t>B . DWARAKANATH sir</a:t>
            </a:r>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48549" y="1188682"/>
            <a:ext cx="6242415" cy="5447645"/>
          </a:xfrm>
          <a:prstGeom prst="rect">
            <a:avLst/>
          </a:prstGeom>
          <a:noFill/>
        </p:spPr>
        <p:txBody>
          <a:bodyPr wrap="none" rtlCol="0">
            <a:spAutoFit/>
          </a:bodyPr>
          <a:lstStyle/>
          <a:p>
            <a:pPr marL="342900" lvl="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Abstract</a:t>
            </a:r>
          </a:p>
          <a:p>
            <a:pPr marL="342900" lvl="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Introduction</a:t>
            </a:r>
          </a:p>
          <a:p>
            <a:pPr marL="342900" lvl="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Problem Statement</a:t>
            </a:r>
          </a:p>
          <a:p>
            <a:pPr marL="342900" lvl="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Objectives</a:t>
            </a:r>
          </a:p>
          <a:p>
            <a:pPr marL="342900" lvl="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Project Plan</a:t>
            </a:r>
          </a:p>
          <a:p>
            <a:pPr marL="342900" lvl="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Proposed Architecture and Methodology</a:t>
            </a:r>
          </a:p>
          <a:p>
            <a:pPr marL="342900" lvl="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Implementation and Results</a:t>
            </a:r>
          </a:p>
          <a:p>
            <a:pPr marL="342900" lvl="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Course Outcomes (CO1, CO2, CO3 and CO4)</a:t>
            </a:r>
          </a:p>
          <a:p>
            <a:pPr marL="342900" lvl="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Conclusion</a:t>
            </a:r>
          </a:p>
          <a:p>
            <a:pPr lvl="0"/>
            <a:endParaRPr lang="en-IN" sz="2400"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C9760-9CD1-E194-58EF-C19765137B09}"/>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71C13DBF-A6CB-3346-03F7-74F82F3F55A5}"/>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931E62D6-9BFB-FBB9-BFAB-38D482E4EDE7}"/>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6" name="TextBox 5">
            <a:extLst>
              <a:ext uri="{FF2B5EF4-FFF2-40B4-BE49-F238E27FC236}">
                <a16:creationId xmlns:a16="http://schemas.microsoft.com/office/drawing/2014/main" id="{93C4665B-E96D-0A5C-402B-7822C82934DB}"/>
              </a:ext>
            </a:extLst>
          </p:cNvPr>
          <p:cNvSpPr txBox="1"/>
          <p:nvPr/>
        </p:nvSpPr>
        <p:spPr>
          <a:xfrm>
            <a:off x="2939142" y="1193374"/>
            <a:ext cx="8182947" cy="5028556"/>
          </a:xfrm>
          <a:prstGeom prst="rect">
            <a:avLst/>
          </a:prstGeom>
          <a:noFill/>
        </p:spPr>
        <p:txBody>
          <a:bodyPr wrap="square">
            <a:spAutoFit/>
          </a:bodyPr>
          <a:lstStyle/>
          <a:p>
            <a:pPr>
              <a:lnSpc>
                <a:spcPct val="150000"/>
              </a:lnSpc>
            </a:pPr>
            <a:r>
              <a:rPr lang="en-IN" dirty="0">
                <a:latin typeface="Times New Roman" panose="02020603050405020304" pitchFamily="18" charset="0"/>
                <a:cs typeface="Times New Roman" panose="02020603050405020304" pitchFamily="18" charset="0"/>
              </a:rPr>
              <a:t>The Parse Tree Generator GUI is an interactive educational application developed using Python and </a:t>
            </a:r>
            <a:r>
              <a:rPr lang="en-IN" dirty="0" err="1">
                <a:latin typeface="Times New Roman" panose="02020603050405020304" pitchFamily="18" charset="0"/>
                <a:cs typeface="Times New Roman" panose="02020603050405020304" pitchFamily="18" charset="0"/>
              </a:rPr>
              <a:t>Tkinter</a:t>
            </a:r>
            <a:r>
              <a:rPr lang="en-IN" dirty="0">
                <a:latin typeface="Times New Roman" panose="02020603050405020304" pitchFamily="18" charset="0"/>
                <a:cs typeface="Times New Roman" panose="02020603050405020304" pitchFamily="18" charset="0"/>
              </a:rPr>
              <a:t> to simplify Compiler Design concepts.</a:t>
            </a:r>
          </a:p>
          <a:p>
            <a:pPr>
              <a:lnSpc>
                <a:spcPct val="150000"/>
              </a:lnSpc>
            </a:pPr>
            <a:endParaRPr lang="en-IN" dirty="0">
              <a:latin typeface="Times New Roman" panose="02020603050405020304" pitchFamily="18" charset="0"/>
              <a:cs typeface="Times New Roman" panose="02020603050405020304" pitchFamily="18" charset="0"/>
            </a:endParaRP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Automates Context-Free Grammar (CFG) analysis.</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Eliminates direct and indirect left recursion.</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Performs left factoring and computes FIRST and FOLLOW sets.</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Generates LL(1) parsing tables and validates input strings.</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Produces leftmost and rightmost derivations.</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Generates and visualizes parse trees using a graphical interface.</a:t>
            </a:r>
          </a:p>
          <a:p>
            <a:pPr lvl="0">
              <a:lnSpc>
                <a:spcPct val="150000"/>
              </a:lnSpc>
            </a:pPr>
            <a:endParaRPr lang="en-IN" dirty="0">
              <a:latin typeface="Times New Roman" panose="02020603050405020304" pitchFamily="18" charset="0"/>
              <a:cs typeface="Times New Roman" panose="02020603050405020304" pitchFamily="18" charset="0"/>
            </a:endParaRPr>
          </a:p>
          <a:p>
            <a:pPr>
              <a:lnSpc>
                <a:spcPct val="150000"/>
              </a:lnSpc>
            </a:pPr>
            <a:r>
              <a:rPr lang="en-IN" dirty="0">
                <a:latin typeface="Times New Roman" panose="02020603050405020304" pitchFamily="18" charset="0"/>
                <a:cs typeface="Times New Roman" panose="02020603050405020304" pitchFamily="18" charset="0"/>
              </a:rPr>
              <a:t>Key Outcome: Simplifies complex grammar analysis through automation and interactive visualization.</a:t>
            </a:r>
          </a:p>
        </p:txBody>
      </p:sp>
    </p:spTree>
    <p:extLst>
      <p:ext uri="{BB962C8B-B14F-4D97-AF65-F5344CB8AC3E}">
        <p14:creationId xmlns:p14="http://schemas.microsoft.com/office/powerpoint/2010/main" val="24827875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5C1D0-976A-73E3-FB61-2197B0A5584F}"/>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FBF3B75D-4598-63AE-5A87-F726A0198BEC}"/>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07C3644D-110A-C6CF-6AB4-C58D7D73EA2F}"/>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6" name="TextBox 5">
            <a:extLst>
              <a:ext uri="{FF2B5EF4-FFF2-40B4-BE49-F238E27FC236}">
                <a16:creationId xmlns:a16="http://schemas.microsoft.com/office/drawing/2014/main" id="{B4CCDDAD-B277-700F-8B03-2BF2759C86C3}"/>
              </a:ext>
            </a:extLst>
          </p:cNvPr>
          <p:cNvSpPr txBox="1"/>
          <p:nvPr/>
        </p:nvSpPr>
        <p:spPr>
          <a:xfrm>
            <a:off x="3144416" y="1053415"/>
            <a:ext cx="8182947" cy="4613058"/>
          </a:xfrm>
          <a:prstGeom prst="rect">
            <a:avLst/>
          </a:prstGeom>
          <a:noFill/>
        </p:spPr>
        <p:txBody>
          <a:bodyPr wrap="square">
            <a:spAutoFit/>
          </a:bodyPr>
          <a:lstStyle/>
          <a:p>
            <a:pPr>
              <a:lnSpc>
                <a:spcPct val="150000"/>
              </a:lnSpc>
            </a:pPr>
            <a:r>
              <a:rPr lang="en-IN" b="1" dirty="0">
                <a:latin typeface="Times New Roman" panose="02020603050405020304" pitchFamily="18" charset="0"/>
                <a:cs typeface="Times New Roman" panose="02020603050405020304" pitchFamily="18" charset="0"/>
              </a:rPr>
              <a:t>Introduction</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Compiler Design involves grammar analysis, parsing, and syntax tree construction.</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Context-Free Grammars (CFGs) define the syntactic structure of programming languages.</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LL(1) parsing is a top-down predictive parsing technique that uses one lookahead symbol.</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Manual grammar analysis involves lengthy calculations and is prone to errors.</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Our project integrates multiple compiler operations into a single graphical application.</a:t>
            </a:r>
          </a:p>
          <a:p>
            <a:pPr lvl="0">
              <a:lnSpc>
                <a:spcPct val="150000"/>
              </a:lnSpc>
            </a:pPr>
            <a:endParaRPr lang="en-IN" dirty="0">
              <a:latin typeface="Times New Roman" panose="02020603050405020304" pitchFamily="18" charset="0"/>
              <a:cs typeface="Times New Roman" panose="02020603050405020304" pitchFamily="18" charset="0"/>
            </a:endParaRPr>
          </a:p>
          <a:p>
            <a:pPr>
              <a:lnSpc>
                <a:spcPct val="150000"/>
              </a:lnSpc>
            </a:pPr>
            <a:r>
              <a:rPr lang="en-IN" dirty="0">
                <a:latin typeface="Times New Roman" panose="02020603050405020304" pitchFamily="18" charset="0"/>
                <a:cs typeface="Times New Roman" panose="02020603050405020304" pitchFamily="18" charset="0"/>
              </a:rPr>
              <a:t>Technology Stack: Python | </a:t>
            </a:r>
            <a:r>
              <a:rPr lang="en-IN" dirty="0" err="1">
                <a:latin typeface="Times New Roman" panose="02020603050405020304" pitchFamily="18" charset="0"/>
                <a:cs typeface="Times New Roman" panose="02020603050405020304" pitchFamily="18" charset="0"/>
              </a:rPr>
              <a:t>Tkinter</a:t>
            </a:r>
            <a:r>
              <a:rPr lang="en-IN" dirty="0">
                <a:latin typeface="Times New Roman" panose="02020603050405020304" pitchFamily="18" charset="0"/>
                <a:cs typeface="Times New Roman" panose="02020603050405020304" pitchFamily="18" charset="0"/>
              </a:rPr>
              <a:t> | LL(1) Parsing | </a:t>
            </a:r>
            <a:r>
              <a:rPr lang="en-IN" dirty="0" err="1">
                <a:latin typeface="Times New Roman" panose="02020603050405020304" pitchFamily="18" charset="0"/>
                <a:cs typeface="Times New Roman" panose="02020603050405020304" pitchFamily="18" charset="0"/>
              </a:rPr>
              <a:t>Tkinter</a:t>
            </a:r>
            <a:r>
              <a:rPr lang="en-IN" dirty="0">
                <a:latin typeface="Times New Roman" panose="02020603050405020304" pitchFamily="18" charset="0"/>
                <a:cs typeface="Times New Roman" panose="02020603050405020304" pitchFamily="18" charset="0"/>
              </a:rPr>
              <a:t> Canvas</a:t>
            </a:r>
          </a:p>
        </p:txBody>
      </p:sp>
    </p:spTree>
    <p:extLst>
      <p:ext uri="{BB962C8B-B14F-4D97-AF65-F5344CB8AC3E}">
        <p14:creationId xmlns:p14="http://schemas.microsoft.com/office/powerpoint/2010/main" val="4767402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PROBLEM STATEMENT</a:t>
            </a:r>
          </a:p>
        </p:txBody>
      </p:sp>
      <p:sp>
        <p:nvSpPr>
          <p:cNvPr id="5" name="TextBox 4">
            <a:extLst>
              <a:ext uri="{FF2B5EF4-FFF2-40B4-BE49-F238E27FC236}">
                <a16:creationId xmlns:a16="http://schemas.microsoft.com/office/drawing/2014/main" id="{C56AE01A-437B-322C-EEEE-3044E32C60B2}"/>
              </a:ext>
            </a:extLst>
          </p:cNvPr>
          <p:cNvSpPr txBox="1"/>
          <p:nvPr/>
        </p:nvSpPr>
        <p:spPr>
          <a:xfrm>
            <a:off x="1563465" y="582949"/>
            <a:ext cx="10504327" cy="6275051"/>
          </a:xfrm>
          <a:prstGeom prst="rect">
            <a:avLst/>
          </a:prstGeom>
          <a:noFill/>
        </p:spPr>
        <p:txBody>
          <a:bodyPr wrap="square">
            <a:spAutoFit/>
          </a:bodyPr>
          <a:lstStyle/>
          <a:p>
            <a:pPr>
              <a:lnSpc>
                <a:spcPct val="150000"/>
              </a:lnSpc>
            </a:pPr>
            <a:r>
              <a:rPr lang="en-IN" b="1" dirty="0">
                <a:latin typeface="Times New Roman" panose="02020603050405020304" pitchFamily="18" charset="0"/>
                <a:cs typeface="Times New Roman" panose="02020603050405020304" pitchFamily="18" charset="0"/>
              </a:rPr>
              <a:t>Problem Statement</a:t>
            </a:r>
          </a:p>
          <a:p>
            <a:pPr algn="just">
              <a:lnSpc>
                <a:spcPct val="150000"/>
              </a:lnSpc>
            </a:pPr>
            <a:r>
              <a:rPr lang="en-IN" dirty="0">
                <a:latin typeface="Times New Roman" panose="02020603050405020304" pitchFamily="18" charset="0"/>
                <a:cs typeface="Times New Roman" panose="02020603050405020304" pitchFamily="18" charset="0"/>
              </a:rPr>
              <a:t>Compiler Design involves complex grammar analysis, transformations, parsing techniques, and parse tree construction. Traditional manual methods require considerable time and effort to calculate FIRST and FOLLOW sets, remove left recursion, perform left factoring, and construct LL(1) parsing tables. These processes are prone to human errors and make it difficult for students to understand the complete parsing process. Existing parser generation tools may also provide limited step-by-step educational visualization. Therefore, an automated and interactive Grammar Analyzer and Parse Tree Generator is required to simplify grammar processing, validate input strings, and visually represent parsing operations.</a:t>
            </a:r>
          </a:p>
          <a:p>
            <a:pPr>
              <a:lnSpc>
                <a:spcPct val="150000"/>
              </a:lnSpc>
            </a:pPr>
            <a:r>
              <a:rPr lang="en-IN" b="1" dirty="0">
                <a:latin typeface="Times New Roman" panose="02020603050405020304" pitchFamily="18" charset="0"/>
                <a:cs typeface="Times New Roman" panose="02020603050405020304" pitchFamily="18" charset="0"/>
              </a:rPr>
              <a:t>Motivation</a:t>
            </a:r>
          </a:p>
          <a:p>
            <a:pPr>
              <a:lnSpc>
                <a:spcPct val="150000"/>
              </a:lnSpc>
            </a:pPr>
            <a:r>
              <a:rPr lang="en-IN" dirty="0">
                <a:latin typeface="Times New Roman" panose="02020603050405020304" pitchFamily="18" charset="0"/>
                <a:cs typeface="Times New Roman" panose="02020603050405020304" pitchFamily="18" charset="0"/>
              </a:rPr>
              <a:t>-Manual grammar analysis and parsing are time-consuming.</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-Calculating FIRST and FOLLOW sets manually can lead to errors.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-Removing direct and indirect left recursion requires multiple steps.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-Constructing LL(1) parsing tables is complex for beginners.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-Students need better visualization of grammar transformations and parse trees.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-An interactive tool can improve understanding of Compiler Design concepts.</a:t>
            </a:r>
          </a:p>
        </p:txBody>
      </p:sp>
    </p:spTree>
    <p:extLst>
      <p:ext uri="{BB962C8B-B14F-4D97-AF65-F5344CB8AC3E}">
        <p14:creationId xmlns:p14="http://schemas.microsoft.com/office/powerpoint/2010/main" val="16724225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DD7F1-012C-ECD9-7F3F-B57EDD02E4BA}"/>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20F49506-52A9-FA4D-7498-F34794D7DA63}"/>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2F435D37-165E-C1D5-FA0B-29B928F2B5EF}"/>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OBJECTIVES</a:t>
            </a:r>
          </a:p>
        </p:txBody>
      </p:sp>
      <p:sp>
        <p:nvSpPr>
          <p:cNvPr id="5" name="TextBox 4">
            <a:extLst>
              <a:ext uri="{FF2B5EF4-FFF2-40B4-BE49-F238E27FC236}">
                <a16:creationId xmlns:a16="http://schemas.microsoft.com/office/drawing/2014/main" id="{4C974733-29BE-42B5-CFA7-B4C0BF2DC24F}"/>
              </a:ext>
            </a:extLst>
          </p:cNvPr>
          <p:cNvSpPr txBox="1"/>
          <p:nvPr/>
        </p:nvSpPr>
        <p:spPr>
          <a:xfrm>
            <a:off x="3556344" y="1332695"/>
            <a:ext cx="8887583" cy="3782061"/>
          </a:xfrm>
          <a:prstGeom prst="rect">
            <a:avLst/>
          </a:prstGeom>
          <a:noFill/>
        </p:spPr>
        <p:txBody>
          <a:bodyPr wrap="square">
            <a:spAutoFit/>
          </a:bodyPr>
          <a:lstStyle/>
          <a:p>
            <a:pPr>
              <a:lnSpc>
                <a:spcPct val="150000"/>
              </a:lnSpc>
            </a:pPr>
            <a:r>
              <a:rPr lang="en-IN" b="1" dirty="0">
                <a:latin typeface="Times New Roman" panose="02020603050405020304" pitchFamily="18" charset="0"/>
                <a:cs typeface="Times New Roman" panose="02020603050405020304" pitchFamily="18" charset="0"/>
              </a:rPr>
              <a:t>Objectives</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Develop an interactive GUI for entering CFG rules and input strings.</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Validate grammar syntax and identify grammatical errors.</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Automatically detect and eliminate direct and indirect left recursion.</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Perform left factoring to prepare grammars for LL(1) parsing.</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Compute FIRST and FOLLOW sets automatically.</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Generate LL(1) parsing tables and validate input strings.</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Display leftmost and rightmost derivations.</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Construct and graphically visualize parse trees.</a:t>
            </a:r>
          </a:p>
        </p:txBody>
      </p:sp>
    </p:spTree>
    <p:extLst>
      <p:ext uri="{BB962C8B-B14F-4D97-AF65-F5344CB8AC3E}">
        <p14:creationId xmlns:p14="http://schemas.microsoft.com/office/powerpoint/2010/main" val="42004830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306BC-0D02-72B5-7962-7CD7174D9FEA}"/>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571F66FC-34C6-F1E3-D83C-E29590F59346}"/>
              </a:ext>
            </a:extLst>
          </p:cNvPr>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775E27E7-CF87-770C-3DCB-07F30CC6929E}"/>
              </a:ext>
            </a:extLst>
          </p:cNvPr>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PROJECT PLAN</a:t>
            </a:r>
          </a:p>
        </p:txBody>
      </p:sp>
      <p:sp>
        <p:nvSpPr>
          <p:cNvPr id="6" name="TextBox 5">
            <a:extLst>
              <a:ext uri="{FF2B5EF4-FFF2-40B4-BE49-F238E27FC236}">
                <a16:creationId xmlns:a16="http://schemas.microsoft.com/office/drawing/2014/main" id="{CC5DD620-6AC3-8287-9D4D-44EAEFFEDBD4}"/>
              </a:ext>
            </a:extLst>
          </p:cNvPr>
          <p:cNvSpPr txBox="1"/>
          <p:nvPr/>
        </p:nvSpPr>
        <p:spPr>
          <a:xfrm>
            <a:off x="3039448" y="1250694"/>
            <a:ext cx="8110634" cy="5028556"/>
          </a:xfrm>
          <a:prstGeom prst="rect">
            <a:avLst/>
          </a:prstGeom>
          <a:noFill/>
        </p:spPr>
        <p:txBody>
          <a:bodyPr wrap="square">
            <a:spAutoFit/>
          </a:bodyPr>
          <a:lstStyle/>
          <a:p>
            <a:pPr lvl="0">
              <a:lnSpc>
                <a:spcPct val="150000"/>
              </a:lnSpc>
            </a:pPr>
            <a:r>
              <a:rPr lang="en-IN" b="1" dirty="0">
                <a:latin typeface="Times New Roman" panose="02020603050405020304" pitchFamily="18" charset="0"/>
                <a:cs typeface="Times New Roman" panose="02020603050405020304" pitchFamily="18" charset="0"/>
              </a:rPr>
              <a:t>Phase 1 – Requirement Analysis</a:t>
            </a:r>
          </a:p>
          <a:p>
            <a:pPr lvl="0">
              <a:lnSpc>
                <a:spcPct val="150000"/>
              </a:lnSpc>
            </a:pPr>
            <a:r>
              <a:rPr lang="en-IN" dirty="0">
                <a:latin typeface="Times New Roman" panose="02020603050405020304" pitchFamily="18" charset="0"/>
                <a:cs typeface="Times New Roman" panose="02020603050405020304" pitchFamily="18" charset="0"/>
              </a:rPr>
              <a:t>Identify compiler design concepts, functional requirements, and system specifications.</a:t>
            </a:r>
          </a:p>
          <a:p>
            <a:pPr lvl="0">
              <a:lnSpc>
                <a:spcPct val="150000"/>
              </a:lnSpc>
            </a:pPr>
            <a:r>
              <a:rPr lang="en-IN" b="1" dirty="0">
                <a:latin typeface="Times New Roman" panose="02020603050405020304" pitchFamily="18" charset="0"/>
                <a:cs typeface="Times New Roman" panose="02020603050405020304" pitchFamily="18" charset="0"/>
              </a:rPr>
              <a:t>Phase 2 – System Design</a:t>
            </a:r>
          </a:p>
          <a:p>
            <a:pPr lvl="0">
              <a:lnSpc>
                <a:spcPct val="150000"/>
              </a:lnSpc>
            </a:pPr>
            <a:r>
              <a:rPr lang="en-IN" dirty="0">
                <a:latin typeface="Times New Roman" panose="02020603050405020304" pitchFamily="18" charset="0"/>
                <a:cs typeface="Times New Roman" panose="02020603050405020304" pitchFamily="18" charset="0"/>
              </a:rPr>
              <a:t>Design the GUI, modular architecture, and processing workflow.</a:t>
            </a:r>
          </a:p>
          <a:p>
            <a:pPr lvl="0">
              <a:lnSpc>
                <a:spcPct val="150000"/>
              </a:lnSpc>
            </a:pPr>
            <a:r>
              <a:rPr lang="en-IN" b="1" dirty="0">
                <a:latin typeface="Times New Roman" panose="02020603050405020304" pitchFamily="18" charset="0"/>
                <a:cs typeface="Times New Roman" panose="02020603050405020304" pitchFamily="18" charset="0"/>
              </a:rPr>
              <a:t>Phase 3 – Grammar Processing</a:t>
            </a:r>
          </a:p>
          <a:p>
            <a:pPr lvl="0">
              <a:lnSpc>
                <a:spcPct val="150000"/>
              </a:lnSpc>
            </a:pPr>
            <a:r>
              <a:rPr lang="en-IN" dirty="0">
                <a:latin typeface="Times New Roman" panose="02020603050405020304" pitchFamily="18" charset="0"/>
                <a:cs typeface="Times New Roman" panose="02020603050405020304" pitchFamily="18" charset="0"/>
              </a:rPr>
              <a:t>Implement grammar parsing, validation, left recursion removal, and left factoring.</a:t>
            </a:r>
          </a:p>
          <a:p>
            <a:pPr lvl="0">
              <a:lnSpc>
                <a:spcPct val="150000"/>
              </a:lnSpc>
            </a:pPr>
            <a:r>
              <a:rPr lang="en-IN" b="1" dirty="0">
                <a:latin typeface="Times New Roman" panose="02020603050405020304" pitchFamily="18" charset="0"/>
                <a:cs typeface="Times New Roman" panose="02020603050405020304" pitchFamily="18" charset="0"/>
              </a:rPr>
              <a:t>Phase 4 – Parsing Implementation</a:t>
            </a:r>
          </a:p>
          <a:p>
            <a:pPr lvl="0">
              <a:lnSpc>
                <a:spcPct val="150000"/>
              </a:lnSpc>
            </a:pPr>
            <a:r>
              <a:rPr lang="en-IN" dirty="0">
                <a:latin typeface="Times New Roman" panose="02020603050405020304" pitchFamily="18" charset="0"/>
                <a:cs typeface="Times New Roman" panose="02020603050405020304" pitchFamily="18" charset="0"/>
              </a:rPr>
              <a:t>Implement FIRST, FOLLOW, LL(1) parsing table, and predictive parsing.</a:t>
            </a:r>
          </a:p>
          <a:p>
            <a:pPr lvl="0">
              <a:lnSpc>
                <a:spcPct val="150000"/>
              </a:lnSpc>
            </a:pPr>
            <a:r>
              <a:rPr lang="en-IN" b="1" dirty="0">
                <a:latin typeface="Times New Roman" panose="02020603050405020304" pitchFamily="18" charset="0"/>
                <a:cs typeface="Times New Roman" panose="02020603050405020304" pitchFamily="18" charset="0"/>
              </a:rPr>
              <a:t>Phase 5 – Visualization</a:t>
            </a:r>
          </a:p>
          <a:p>
            <a:pPr lvl="0">
              <a:lnSpc>
                <a:spcPct val="150000"/>
              </a:lnSpc>
            </a:pPr>
            <a:r>
              <a:rPr lang="en-IN" dirty="0">
                <a:latin typeface="Times New Roman" panose="02020603050405020304" pitchFamily="18" charset="0"/>
                <a:cs typeface="Times New Roman" panose="02020603050405020304" pitchFamily="18" charset="0"/>
              </a:rPr>
              <a:t>Generate derivations and graphical parse trees using </a:t>
            </a:r>
            <a:r>
              <a:rPr lang="en-IN" dirty="0" err="1">
                <a:latin typeface="Times New Roman" panose="02020603050405020304" pitchFamily="18" charset="0"/>
                <a:cs typeface="Times New Roman" panose="02020603050405020304" pitchFamily="18" charset="0"/>
              </a:rPr>
              <a:t>Tkinter</a:t>
            </a:r>
            <a:r>
              <a:rPr lang="en-IN" dirty="0">
                <a:latin typeface="Times New Roman" panose="02020603050405020304" pitchFamily="18" charset="0"/>
                <a:cs typeface="Times New Roman" panose="02020603050405020304" pitchFamily="18" charset="0"/>
              </a:rPr>
              <a:t> Canvas.</a:t>
            </a:r>
          </a:p>
          <a:p>
            <a:pPr lvl="0">
              <a:lnSpc>
                <a:spcPct val="150000"/>
              </a:lnSpc>
            </a:pPr>
            <a:r>
              <a:rPr lang="en-IN" b="1" dirty="0">
                <a:latin typeface="Times New Roman" panose="02020603050405020304" pitchFamily="18" charset="0"/>
                <a:cs typeface="Times New Roman" panose="02020603050405020304" pitchFamily="18" charset="0"/>
              </a:rPr>
              <a:t>Phase 6 – Testing and Evaluation</a:t>
            </a:r>
          </a:p>
          <a:p>
            <a:pPr lvl="0">
              <a:lnSpc>
                <a:spcPct val="150000"/>
              </a:lnSpc>
            </a:pPr>
            <a:r>
              <a:rPr lang="en-IN" dirty="0">
                <a:latin typeface="Times New Roman" panose="02020603050405020304" pitchFamily="18" charset="0"/>
                <a:cs typeface="Times New Roman" panose="02020603050405020304" pitchFamily="18" charset="0"/>
              </a:rPr>
              <a:t>Test different CFG examples and evaluate correctness, functionality, and usability.</a:t>
            </a:r>
          </a:p>
        </p:txBody>
      </p:sp>
    </p:spTree>
    <p:extLst>
      <p:ext uri="{BB962C8B-B14F-4D97-AF65-F5344CB8AC3E}">
        <p14:creationId xmlns:p14="http://schemas.microsoft.com/office/powerpoint/2010/main" val="1533423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559D5-642E-14D7-578C-7944838ED9C5}"/>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5FA9BAB3-0461-721A-4CA9-CD94B86DC681}"/>
              </a:ext>
            </a:extLst>
          </p:cNvPr>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3E2183F8-F85C-C01C-4E25-E712BDE5373A}"/>
              </a:ext>
            </a:extLst>
          </p:cNvPr>
          <p:cNvSpPr txBox="1"/>
          <p:nvPr/>
        </p:nvSpPr>
        <p:spPr>
          <a:xfrm>
            <a:off x="3574460" y="302403"/>
            <a:ext cx="6710398" cy="492443"/>
          </a:xfrm>
          <a:prstGeom prst="rect">
            <a:avLst/>
          </a:prstGeom>
          <a:noFill/>
        </p:spPr>
        <p:txBody>
          <a:bodyPr wrap="square" rtlCol="0">
            <a:spAutoFit/>
          </a:bodyPr>
          <a:lstStyle/>
          <a:p>
            <a:pPr algn="ctr"/>
            <a:r>
              <a:rPr lang="en-US" sz="2600" b="1" dirty="0">
                <a:solidFill>
                  <a:schemeClr val="bg1"/>
                </a:solidFill>
              </a:rPr>
              <a:t>PROPOSED ARCHITECTURE/METHODOLOGY</a:t>
            </a:r>
          </a:p>
        </p:txBody>
      </p:sp>
      <p:sp>
        <p:nvSpPr>
          <p:cNvPr id="6" name="TextBox 5">
            <a:extLst>
              <a:ext uri="{FF2B5EF4-FFF2-40B4-BE49-F238E27FC236}">
                <a16:creationId xmlns:a16="http://schemas.microsoft.com/office/drawing/2014/main" id="{9036F5AD-F9F7-ECE6-5BF9-33F37E0877C7}"/>
              </a:ext>
            </a:extLst>
          </p:cNvPr>
          <p:cNvSpPr txBox="1"/>
          <p:nvPr/>
        </p:nvSpPr>
        <p:spPr>
          <a:xfrm>
            <a:off x="4081054" y="1254584"/>
            <a:ext cx="6097554" cy="4619854"/>
          </a:xfrm>
          <a:prstGeom prst="rect">
            <a:avLst/>
          </a:prstGeom>
          <a:noFill/>
        </p:spPr>
        <p:txBody>
          <a:bodyPr wrap="square">
            <a:spAutoFit/>
          </a:bodyPr>
          <a:lstStyle/>
          <a:p>
            <a:pPr>
              <a:lnSpc>
                <a:spcPct val="150000"/>
              </a:lnSpc>
              <a:buNone/>
            </a:pPr>
            <a:r>
              <a:rPr lang="en-IN" dirty="0">
                <a:latin typeface="Times New Roman" panose="02020603050405020304" pitchFamily="18" charset="0"/>
                <a:cs typeface="Times New Roman" panose="02020603050405020304" pitchFamily="18" charset="0"/>
              </a:rPr>
              <a:t>Implementation</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Developed the graphical interface using Python </a:t>
            </a:r>
            <a:r>
              <a:rPr lang="en-IN" dirty="0" err="1">
                <a:latin typeface="Times New Roman" panose="02020603050405020304" pitchFamily="18" charset="0"/>
                <a:cs typeface="Times New Roman" panose="02020603050405020304" pitchFamily="18" charset="0"/>
              </a:rPr>
              <a:t>Tkinter</a:t>
            </a:r>
            <a:r>
              <a:rPr lang="en-IN" dirty="0">
                <a:latin typeface="Times New Roman" panose="02020603050405020304" pitchFamily="18" charset="0"/>
                <a:cs typeface="Times New Roman" panose="02020603050405020304" pitchFamily="18" charset="0"/>
              </a:rPr>
              <a:t>.</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Implemented grammar processing and validation algorithms.</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Automated left recursion removal and left factoring.</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Generated FIRST and FOLLOW sets.</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Constructed LL(1) parsing tables.</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Implemented stack-based predictive parsing.</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Generated leftmost and rightmost derivations.</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Visualized parse trees using </a:t>
            </a:r>
            <a:r>
              <a:rPr lang="en-IN" dirty="0" err="1">
                <a:latin typeface="Times New Roman" panose="02020603050405020304" pitchFamily="18" charset="0"/>
                <a:cs typeface="Times New Roman" panose="02020603050405020304" pitchFamily="18" charset="0"/>
              </a:rPr>
              <a:t>Tkinter</a:t>
            </a:r>
            <a:r>
              <a:rPr lang="en-IN" dirty="0">
                <a:latin typeface="Times New Roman" panose="02020603050405020304" pitchFamily="18" charset="0"/>
                <a:cs typeface="Times New Roman" panose="02020603050405020304" pitchFamily="18" charset="0"/>
              </a:rPr>
              <a:t> Canvas with color-coded nodes.</a:t>
            </a:r>
          </a:p>
        </p:txBody>
      </p:sp>
      <p:pic>
        <p:nvPicPr>
          <p:cNvPr id="8" name="Picture 7">
            <a:extLst>
              <a:ext uri="{FF2B5EF4-FFF2-40B4-BE49-F238E27FC236}">
                <a16:creationId xmlns:a16="http://schemas.microsoft.com/office/drawing/2014/main" id="{7982B1CA-37F9-BABE-D396-101EBBBDBFE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5240" y="865988"/>
            <a:ext cx="3154680" cy="5397047"/>
          </a:xfrm>
          <a:prstGeom prst="rect">
            <a:avLst/>
          </a:prstGeom>
          <a:noFill/>
          <a:ln>
            <a:noFill/>
          </a:ln>
        </p:spPr>
      </p:pic>
    </p:spTree>
    <p:extLst>
      <p:ext uri="{BB962C8B-B14F-4D97-AF65-F5344CB8AC3E}">
        <p14:creationId xmlns:p14="http://schemas.microsoft.com/office/powerpoint/2010/main" val="38567725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74460" y="302403"/>
            <a:ext cx="6710398" cy="492443"/>
          </a:xfrm>
          <a:prstGeom prst="rect">
            <a:avLst/>
          </a:prstGeom>
          <a:noFill/>
        </p:spPr>
        <p:txBody>
          <a:bodyPr wrap="square" rtlCol="0">
            <a:spAutoFit/>
          </a:bodyPr>
          <a:lstStyle/>
          <a:p>
            <a:pPr algn="ctr"/>
            <a:r>
              <a:rPr lang="en-US" sz="2600" b="1" dirty="0">
                <a:solidFill>
                  <a:schemeClr val="bg1"/>
                </a:solidFill>
              </a:rPr>
              <a:t>ARCHITECTURE/METHODOLOGY</a:t>
            </a:r>
          </a:p>
        </p:txBody>
      </p:sp>
      <p:pic>
        <p:nvPicPr>
          <p:cNvPr id="4" name="Picture 3">
            <a:extLst>
              <a:ext uri="{FF2B5EF4-FFF2-40B4-BE49-F238E27FC236}">
                <a16:creationId xmlns:a16="http://schemas.microsoft.com/office/drawing/2014/main" id="{777DA3A4-4779-9AEC-230E-B6DBD646F27A}"/>
              </a:ext>
            </a:extLst>
          </p:cNvPr>
          <p:cNvPicPr>
            <a:picLocks noChangeAspect="1"/>
          </p:cNvPicPr>
          <p:nvPr/>
        </p:nvPicPr>
        <p:blipFill>
          <a:blip r:embed="rId2"/>
          <a:stretch>
            <a:fillRect/>
          </a:stretch>
        </p:blipFill>
        <p:spPr>
          <a:xfrm>
            <a:off x="2726673" y="1117412"/>
            <a:ext cx="7558185" cy="4397415"/>
          </a:xfrm>
          <a:prstGeom prst="rect">
            <a:avLst/>
          </a:prstGeom>
        </p:spPr>
      </p:pic>
    </p:spTree>
    <p:extLst>
      <p:ext uri="{BB962C8B-B14F-4D97-AF65-F5344CB8AC3E}">
        <p14:creationId xmlns:p14="http://schemas.microsoft.com/office/powerpoint/2010/main" val="2292750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472BE-D41C-302C-A92E-87A426C00C02}"/>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E70134C9-A9C0-4CAF-0A96-CA01B7B23EF2}"/>
              </a:ext>
            </a:extLst>
          </p:cNvPr>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989CADB-26BE-ACEF-D07D-9788C714061C}"/>
              </a:ext>
            </a:extLst>
          </p:cNvPr>
          <p:cNvSpPr txBox="1"/>
          <p:nvPr/>
        </p:nvSpPr>
        <p:spPr>
          <a:xfrm>
            <a:off x="3574460" y="302403"/>
            <a:ext cx="6710398" cy="492443"/>
          </a:xfrm>
          <a:prstGeom prst="rect">
            <a:avLst/>
          </a:prstGeom>
          <a:noFill/>
        </p:spPr>
        <p:txBody>
          <a:bodyPr wrap="square" rtlCol="0">
            <a:spAutoFit/>
          </a:bodyPr>
          <a:lstStyle/>
          <a:p>
            <a:pPr algn="ctr"/>
            <a:r>
              <a:rPr lang="en-US" sz="2600" b="1" dirty="0">
                <a:solidFill>
                  <a:schemeClr val="bg1"/>
                </a:solidFill>
              </a:rPr>
              <a:t>ARCHITECTURE/METHODOLOGY</a:t>
            </a:r>
          </a:p>
        </p:txBody>
      </p:sp>
      <p:pic>
        <p:nvPicPr>
          <p:cNvPr id="5" name="Picture 4">
            <a:extLst>
              <a:ext uri="{FF2B5EF4-FFF2-40B4-BE49-F238E27FC236}">
                <a16:creationId xmlns:a16="http://schemas.microsoft.com/office/drawing/2014/main" id="{20922AFB-9500-8228-320F-51E0B2DEE2CB}"/>
              </a:ext>
            </a:extLst>
          </p:cNvPr>
          <p:cNvPicPr>
            <a:picLocks noChangeAspect="1"/>
          </p:cNvPicPr>
          <p:nvPr/>
        </p:nvPicPr>
        <p:blipFill rotWithShape="1">
          <a:blip r:embed="rId2"/>
          <a:srcRect l="3125" t="1664" r="2735" b="1569"/>
          <a:stretch>
            <a:fillRect/>
          </a:stretch>
        </p:blipFill>
        <p:spPr bwMode="auto">
          <a:xfrm>
            <a:off x="3906934" y="906353"/>
            <a:ext cx="4705222" cy="5794852"/>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203998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5401B-74D6-DFAC-94D7-F00010DFD28C}"/>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9D3600DC-49DF-158F-5B77-919416BAE004}"/>
              </a:ext>
            </a:extLst>
          </p:cNvPr>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458F50A-0044-CD55-49CF-49AE750C336C}"/>
              </a:ext>
            </a:extLst>
          </p:cNvPr>
          <p:cNvSpPr txBox="1"/>
          <p:nvPr/>
        </p:nvSpPr>
        <p:spPr>
          <a:xfrm>
            <a:off x="3574460" y="302403"/>
            <a:ext cx="6710398" cy="492443"/>
          </a:xfrm>
          <a:prstGeom prst="rect">
            <a:avLst/>
          </a:prstGeom>
          <a:noFill/>
        </p:spPr>
        <p:txBody>
          <a:bodyPr wrap="square" rtlCol="0">
            <a:spAutoFit/>
          </a:bodyPr>
          <a:lstStyle/>
          <a:p>
            <a:pPr algn="ctr"/>
            <a:r>
              <a:rPr lang="en-US" sz="2600" b="1" dirty="0">
                <a:solidFill>
                  <a:schemeClr val="bg1"/>
                </a:solidFill>
              </a:rPr>
              <a:t>ARCHITECTURE/METHODOLOGY</a:t>
            </a:r>
          </a:p>
        </p:txBody>
      </p:sp>
      <p:pic>
        <p:nvPicPr>
          <p:cNvPr id="4" name="Picture 3">
            <a:extLst>
              <a:ext uri="{FF2B5EF4-FFF2-40B4-BE49-F238E27FC236}">
                <a16:creationId xmlns:a16="http://schemas.microsoft.com/office/drawing/2014/main" id="{9B5C0E8E-5304-1BD8-3674-721B592284AE}"/>
              </a:ext>
            </a:extLst>
          </p:cNvPr>
          <p:cNvPicPr>
            <a:picLocks noChangeAspect="1"/>
          </p:cNvPicPr>
          <p:nvPr/>
        </p:nvPicPr>
        <p:blipFill>
          <a:blip r:embed="rId2"/>
          <a:stretch>
            <a:fillRect/>
          </a:stretch>
        </p:blipFill>
        <p:spPr>
          <a:xfrm>
            <a:off x="3448685" y="1212837"/>
            <a:ext cx="5294630" cy="5104130"/>
          </a:xfrm>
          <a:prstGeom prst="rect">
            <a:avLst/>
          </a:prstGeom>
        </p:spPr>
      </p:pic>
    </p:spTree>
    <p:extLst>
      <p:ext uri="{BB962C8B-B14F-4D97-AF65-F5344CB8AC3E}">
        <p14:creationId xmlns:p14="http://schemas.microsoft.com/office/powerpoint/2010/main" val="16134673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E78887-812C-759A-9F8A-4A0D583D7DEE}"/>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1C369A05-B8E6-6E94-96B2-863F1A94DF6E}"/>
              </a:ext>
            </a:extLst>
          </p:cNvPr>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A2A6E43-BC33-B2EE-AB52-8C0FDAFFD6BC}"/>
              </a:ext>
            </a:extLst>
          </p:cNvPr>
          <p:cNvSpPr txBox="1"/>
          <p:nvPr/>
        </p:nvSpPr>
        <p:spPr>
          <a:xfrm>
            <a:off x="3574460" y="302403"/>
            <a:ext cx="6710398" cy="492443"/>
          </a:xfrm>
          <a:prstGeom prst="rect">
            <a:avLst/>
          </a:prstGeom>
          <a:noFill/>
        </p:spPr>
        <p:txBody>
          <a:bodyPr wrap="square" rtlCol="0">
            <a:spAutoFit/>
          </a:bodyPr>
          <a:lstStyle/>
          <a:p>
            <a:pPr algn="ctr"/>
            <a:r>
              <a:rPr lang="en-US" sz="2600" b="1" dirty="0">
                <a:solidFill>
                  <a:schemeClr val="bg1"/>
                </a:solidFill>
              </a:rPr>
              <a:t>ARCHITECTURE/METHODOLOGY</a:t>
            </a:r>
          </a:p>
        </p:txBody>
      </p:sp>
      <p:pic>
        <p:nvPicPr>
          <p:cNvPr id="5" name="Picture 4">
            <a:extLst>
              <a:ext uri="{FF2B5EF4-FFF2-40B4-BE49-F238E27FC236}">
                <a16:creationId xmlns:a16="http://schemas.microsoft.com/office/drawing/2014/main" id="{64F8B2B1-3F4E-C328-3D7D-989FAC57C263}"/>
              </a:ext>
            </a:extLst>
          </p:cNvPr>
          <p:cNvPicPr>
            <a:picLocks noChangeAspect="1"/>
          </p:cNvPicPr>
          <p:nvPr/>
        </p:nvPicPr>
        <p:blipFill>
          <a:blip r:embed="rId2"/>
          <a:stretch>
            <a:fillRect/>
          </a:stretch>
        </p:blipFill>
        <p:spPr>
          <a:xfrm>
            <a:off x="3200082" y="1304607"/>
            <a:ext cx="5791835" cy="4248785"/>
          </a:xfrm>
          <a:prstGeom prst="rect">
            <a:avLst/>
          </a:prstGeom>
        </p:spPr>
      </p:pic>
    </p:spTree>
    <p:extLst>
      <p:ext uri="{BB962C8B-B14F-4D97-AF65-F5344CB8AC3E}">
        <p14:creationId xmlns:p14="http://schemas.microsoft.com/office/powerpoint/2010/main" val="14294502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B6895-4D54-7CD6-FAC9-32EF355538D9}"/>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13E55799-5902-8DAB-7372-D561632D3992}"/>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160D195A-B395-CDFE-7F35-910504E02D2F}"/>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RESULTS</a:t>
            </a:r>
          </a:p>
        </p:txBody>
      </p:sp>
      <p:pic>
        <p:nvPicPr>
          <p:cNvPr id="8" name="Picture 7">
            <a:extLst>
              <a:ext uri="{FF2B5EF4-FFF2-40B4-BE49-F238E27FC236}">
                <a16:creationId xmlns:a16="http://schemas.microsoft.com/office/drawing/2014/main" id="{EECEFB20-E2AF-CBA4-B8C4-6C53581BE22E}"/>
              </a:ext>
            </a:extLst>
          </p:cNvPr>
          <p:cNvPicPr>
            <a:picLocks noChangeAspect="1"/>
          </p:cNvPicPr>
          <p:nvPr/>
        </p:nvPicPr>
        <p:blipFill>
          <a:blip r:embed="rId2"/>
          <a:stretch>
            <a:fillRect/>
          </a:stretch>
        </p:blipFill>
        <p:spPr>
          <a:xfrm>
            <a:off x="1306285" y="806448"/>
            <a:ext cx="9946433" cy="5594868"/>
          </a:xfrm>
          <a:prstGeom prst="rect">
            <a:avLst/>
          </a:prstGeom>
        </p:spPr>
      </p:pic>
    </p:spTree>
    <p:extLst>
      <p:ext uri="{BB962C8B-B14F-4D97-AF65-F5344CB8AC3E}">
        <p14:creationId xmlns:p14="http://schemas.microsoft.com/office/powerpoint/2010/main" val="37199145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EF4FA-EB75-1974-E1BF-7209276BDCFF}"/>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798908D0-05AA-E24F-0B6A-A5E6043394D3}"/>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0A332472-0855-3C61-D852-DD00AE86741A}"/>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RESULTS</a:t>
            </a:r>
          </a:p>
        </p:txBody>
      </p:sp>
      <p:pic>
        <p:nvPicPr>
          <p:cNvPr id="5" name="Picture 4">
            <a:extLst>
              <a:ext uri="{FF2B5EF4-FFF2-40B4-BE49-F238E27FC236}">
                <a16:creationId xmlns:a16="http://schemas.microsoft.com/office/drawing/2014/main" id="{DAAB6F06-308A-9399-1F3E-2C3B956A6AD9}"/>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461968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DD671-C703-87A7-FC6D-698BC5FBE75E}"/>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37DF096F-7553-408B-1197-FA09D94974D2}"/>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D3A59373-9C16-38F9-123A-28FA34AED109}"/>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RESULTS</a:t>
            </a:r>
          </a:p>
        </p:txBody>
      </p:sp>
      <p:pic>
        <p:nvPicPr>
          <p:cNvPr id="6" name="Picture 5">
            <a:extLst>
              <a:ext uri="{FF2B5EF4-FFF2-40B4-BE49-F238E27FC236}">
                <a16:creationId xmlns:a16="http://schemas.microsoft.com/office/drawing/2014/main" id="{1779180D-7EC2-9918-CB08-62B92223C9A3}"/>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5267889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36D5D-195A-F810-2E0B-0833B82D6FC2}"/>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8C40214F-41B3-919A-B7E7-37E6E94D8531}"/>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918C1ED9-C527-0BB7-524E-335370CCDAB5}"/>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RESULTS</a:t>
            </a:r>
          </a:p>
        </p:txBody>
      </p:sp>
      <p:pic>
        <p:nvPicPr>
          <p:cNvPr id="5" name="Picture 4">
            <a:extLst>
              <a:ext uri="{FF2B5EF4-FFF2-40B4-BE49-F238E27FC236}">
                <a16:creationId xmlns:a16="http://schemas.microsoft.com/office/drawing/2014/main" id="{93F68474-F258-2EEF-7DFB-866EC699E74C}"/>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41755067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98B6A-CA02-9434-A4BE-B97232288916}"/>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C0801246-96B0-60D5-5A8A-255EDF0CEE9C}"/>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887C1D8A-1559-8054-8426-8402CEED374F}"/>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6" name="TextBox 5">
            <a:extLst>
              <a:ext uri="{FF2B5EF4-FFF2-40B4-BE49-F238E27FC236}">
                <a16:creationId xmlns:a16="http://schemas.microsoft.com/office/drawing/2014/main" id="{ADD8422E-FA86-F184-78C1-BB4CC1960992}"/>
              </a:ext>
            </a:extLst>
          </p:cNvPr>
          <p:cNvSpPr txBox="1"/>
          <p:nvPr/>
        </p:nvSpPr>
        <p:spPr>
          <a:xfrm>
            <a:off x="2978406" y="1254318"/>
            <a:ext cx="9123397" cy="3782061"/>
          </a:xfrm>
          <a:prstGeom prst="rect">
            <a:avLst/>
          </a:prstGeom>
          <a:noFill/>
        </p:spPr>
        <p:txBody>
          <a:bodyPr wrap="square">
            <a:spAutoFit/>
          </a:bodyPr>
          <a:lstStyle/>
          <a:p>
            <a:pPr>
              <a:lnSpc>
                <a:spcPct val="150000"/>
              </a:lnSpc>
            </a:pPr>
            <a:r>
              <a:rPr lang="en-IN" b="1" dirty="0">
                <a:latin typeface="Times New Roman" panose="02020603050405020304" pitchFamily="18" charset="0"/>
                <a:cs typeface="Times New Roman" panose="02020603050405020304" pitchFamily="18" charset="0"/>
              </a:rPr>
              <a:t>Conclusion</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Successfully developed an interactive Grammar Analyzer and Parse Tree Generator.</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Automated CFG validation and grammar transformations.</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Implemented left recursion removal and left factoring.</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Generated FIRST and FOLLOW sets and LL(1) parsing tables.</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Validated input strings using predictive parsing.</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Generated leftmost and rightmost derivations.</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Visualized parse trees using a graphical interface.</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Reduced manual effort and improved understanding of Compiler Design concepts.</a:t>
            </a:r>
          </a:p>
        </p:txBody>
      </p:sp>
    </p:spTree>
    <p:extLst>
      <p:ext uri="{BB962C8B-B14F-4D97-AF65-F5344CB8AC3E}">
        <p14:creationId xmlns:p14="http://schemas.microsoft.com/office/powerpoint/2010/main" val="39691691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706</TotalTime>
  <Words>787</Words>
  <Application>Microsoft Office PowerPoint</Application>
  <PresentationFormat>Widescreen</PresentationFormat>
  <Paragraphs>94</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Times New Roman</vt:lpstr>
      <vt:lpstr>Office Theme</vt:lpstr>
      <vt:lpstr>     COMPLIER DESIGN  Parse Tree Generator GUI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B SRIHITHA 2420030099</cp:lastModifiedBy>
  <cp:revision>31</cp:revision>
  <dcterms:created xsi:type="dcterms:W3CDTF">2024-08-29T05:25:00Z</dcterms:created>
  <dcterms:modified xsi:type="dcterms:W3CDTF">2026-10-30T05:07:06Z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